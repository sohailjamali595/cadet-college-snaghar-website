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287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Canva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8E3F"/>
    <a:srgbClr val="8A63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201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287000" cy="10287000"/>
          </a:xfrm>
          <a:custGeom>
            <a:avLst/>
            <a:gdLst/>
            <a:ahLst/>
            <a:cxnLst/>
            <a:rect l="l" t="t" r="r" b="b"/>
            <a:pathLst>
              <a:path w="10287000" h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0662" y="1562100"/>
            <a:ext cx="9013746" cy="8337715"/>
          </a:xfrm>
          <a:custGeom>
            <a:avLst/>
            <a:gdLst/>
            <a:ahLst/>
            <a:cxnLst/>
            <a:rect l="l" t="t" r="r" b="b"/>
            <a:pathLst>
              <a:path w="9013746" h="8337715">
                <a:moveTo>
                  <a:pt x="0" y="0"/>
                </a:moveTo>
                <a:lnTo>
                  <a:pt x="9013746" y="0"/>
                </a:lnTo>
                <a:lnTo>
                  <a:pt x="9013746" y="8337714"/>
                </a:lnTo>
                <a:lnTo>
                  <a:pt x="0" y="8337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29510" y="3738039"/>
            <a:ext cx="5256049" cy="19929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31750" h="82550"/>
            </a:sp3d>
          </a:bodyPr>
          <a:lstStyle/>
          <a:p>
            <a:pPr algn="ctr">
              <a:lnSpc>
                <a:spcPts val="7700"/>
              </a:lnSpc>
            </a:pPr>
            <a:r>
              <a:rPr lang="ar-EG" sz="8000" b="1" dirty="0">
                <a:solidFill>
                  <a:srgbClr val="AE8E3F"/>
                </a:solidFill>
                <a:effectLst>
                  <a:glow rad="50800">
                    <a:schemeClr val="accent1">
                      <a:alpha val="45000"/>
                    </a:schemeClr>
                  </a:glow>
                  <a:outerShdw blurRad="50800" dist="127000" dir="9600000" algn="ctr" rotWithShape="0">
                    <a:srgbClr val="000000">
                      <a:alpha val="94000"/>
                    </a:srgbClr>
                  </a:outerShdw>
                </a:effectLst>
                <a:latin typeface="Canva Sans Bold"/>
                <a:ea typeface="Canva Sans Bold"/>
                <a:cs typeface="Canva Sans Bold"/>
                <a:sym typeface="Canva Sans Bold"/>
                <a:rtl/>
              </a:rPr>
              <a:t>بِسْمِ اللّٰہِ الرَّحْمٰنِ</a:t>
            </a:r>
          </a:p>
          <a:p>
            <a:pPr algn="ctr">
              <a:lnSpc>
                <a:spcPts val="7700"/>
              </a:lnSpc>
            </a:pPr>
            <a:r>
              <a:rPr lang="en-US" sz="8000" b="1" dirty="0">
                <a:solidFill>
                  <a:srgbClr val="AE8E3F"/>
                </a:solidFill>
                <a:effectLst>
                  <a:glow rad="50800">
                    <a:schemeClr val="accent1">
                      <a:alpha val="45000"/>
                    </a:schemeClr>
                  </a:glow>
                  <a:outerShdw blurRad="50800" dist="127000" dir="9600000" algn="ctr" rotWithShape="0">
                    <a:srgbClr val="000000">
                      <a:alpha val="94000"/>
                    </a:srgbClr>
                  </a:outerShdw>
                </a:effectLst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sz="8000" b="1" dirty="0">
                <a:solidFill>
                  <a:srgbClr val="AE8E3F"/>
                </a:solidFill>
                <a:effectLst>
                  <a:glow rad="50800">
                    <a:schemeClr val="accent1">
                      <a:alpha val="45000"/>
                    </a:schemeClr>
                  </a:glow>
                  <a:outerShdw blurRad="50800" dist="127000" dir="9600000" algn="ctr" rotWithShape="0">
                    <a:srgbClr val="000000">
                      <a:alpha val="94000"/>
                    </a:srgbClr>
                  </a:outerShdw>
                </a:effectLst>
                <a:latin typeface="Canva Sans Bold"/>
                <a:ea typeface="Canva Sans Bold"/>
                <a:cs typeface="Canva Sans Bold"/>
                <a:sym typeface="Canva Sans Bold"/>
                <a:rtl/>
              </a:rPr>
              <a:t>الرَّحِیْمِ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5525" y="1142804"/>
            <a:ext cx="7835950" cy="8013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0157"/>
              </a:lnSpc>
            </a:pPr>
            <a:r>
              <a:rPr lang="ar-EG" sz="7255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گروپ کے اراکین</a:t>
            </a:r>
          </a:p>
          <a:p>
            <a:pPr marL="789182" lvl="1" indent="-394591" algn="r" rtl="1">
              <a:lnSpc>
                <a:spcPct val="150000"/>
              </a:lnSpc>
              <a:buAutoNum type="arabicPeriod"/>
            </a:pPr>
            <a:r>
              <a:rPr lang="ar-EG" sz="6600" b="1" dirty="0">
                <a:solidFill>
                  <a:srgbClr val="AE8E3F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  جہانزیب حیدر                                     </a:t>
            </a:r>
          </a:p>
          <a:p>
            <a:pPr marL="789182" lvl="1" indent="-394591" algn="r" rtl="1">
              <a:lnSpc>
                <a:spcPct val="150000"/>
              </a:lnSpc>
              <a:buAutoNum type="arabicPeriod"/>
            </a:pPr>
            <a:r>
              <a:rPr lang="ar-EG" sz="6600" b="1" dirty="0">
                <a:solidFill>
                  <a:srgbClr val="AE8E3F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  حافظ محمد ازان</a:t>
            </a:r>
          </a:p>
          <a:p>
            <a:pPr marL="789182" lvl="1" indent="-394591" algn="r" rtl="1">
              <a:lnSpc>
                <a:spcPct val="150000"/>
              </a:lnSpc>
              <a:buAutoNum type="arabicPeriod"/>
            </a:pPr>
            <a:r>
              <a:rPr lang="ar-EG" sz="6600" b="1" dirty="0">
                <a:solidFill>
                  <a:srgbClr val="AE8E3F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  محمد سہیب</a:t>
            </a:r>
          </a:p>
          <a:p>
            <a:pPr marL="789182" lvl="1" indent="-394591" algn="r" rtl="1">
              <a:lnSpc>
                <a:spcPct val="150000"/>
              </a:lnSpc>
              <a:buAutoNum type="arabicPeriod"/>
            </a:pPr>
            <a:r>
              <a:rPr lang="ar-EG" sz="6600" b="1" dirty="0">
                <a:solidFill>
                  <a:srgbClr val="AE8E3F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 زامن علی</a:t>
            </a:r>
          </a:p>
          <a:p>
            <a:pPr algn="l">
              <a:lnSpc>
                <a:spcPts val="5117"/>
              </a:lnSpc>
            </a:pPr>
            <a:endParaRPr lang="ar-EG" sz="3655" b="1" dirty="0">
              <a:solidFill>
                <a:srgbClr val="AE8E3F"/>
              </a:solidFill>
              <a:latin typeface="Canva Sans Bold"/>
              <a:ea typeface="Canva Sans Bold"/>
              <a:cs typeface="Canva Sans Bold"/>
              <a:sym typeface="Canva Sans Bold"/>
              <a:rtl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2008631"/>
            <a:ext cx="10287000" cy="5621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7700"/>
              </a:lnSpc>
              <a:spcBef>
                <a:spcPct val="0"/>
              </a:spcBef>
            </a:pPr>
            <a:r>
              <a:rPr lang="ar-EG" sz="8800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علمِ بیان</a:t>
            </a:r>
          </a:p>
          <a:p>
            <a:pPr algn="ctr" rtl="1">
              <a:lnSpc>
                <a:spcPts val="7700"/>
              </a:lnSpc>
              <a:spcBef>
                <a:spcPct val="0"/>
              </a:spcBef>
            </a:pPr>
            <a:endParaRPr lang="ar-EG" sz="55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  <a:rtl/>
            </a:endParaRPr>
          </a:p>
          <a:p>
            <a:pPr algn="ctr" rtl="1">
              <a:lnSpc>
                <a:spcPts val="6020"/>
              </a:lnSpc>
              <a:spcBef>
                <a:spcPct val="0"/>
              </a:spcBef>
            </a:pPr>
            <a:r>
              <a:rPr lang="ar-EG" sz="4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 </a:t>
            </a:r>
          </a:p>
          <a:p>
            <a:pPr algn="ctr" rtl="1">
              <a:lnSpc>
                <a:spcPts val="5600"/>
              </a:lnSpc>
              <a:spcBef>
                <a:spcPct val="0"/>
              </a:spcBef>
            </a:pPr>
            <a:r>
              <a:rPr lang="ar-EG" sz="4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وضاحت اور اظہار</a:t>
            </a:r>
          </a:p>
          <a:p>
            <a:pPr algn="ctr" rtl="1">
              <a:lnSpc>
                <a:spcPts val="6020"/>
              </a:lnSpc>
              <a:spcBef>
                <a:spcPct val="0"/>
              </a:spcBef>
            </a:pPr>
            <a:endParaRPr lang="ar-EG" sz="40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ctr" rtl="1">
              <a:lnSpc>
                <a:spcPts val="5600"/>
              </a:lnSpc>
              <a:spcBef>
                <a:spcPct val="0"/>
              </a:spcBef>
            </a:pPr>
            <a:r>
              <a:rPr lang="ar-EG" sz="44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                  </a:t>
            </a:r>
            <a:r>
              <a:rPr lang="ar-EG" sz="4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</a:t>
            </a:r>
            <a:r>
              <a:rPr lang="ar-EG" sz="4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ایسا فن جس سے کلام میں خوبصورتی، زورِ بیان اور تاثیر پیدا ہو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87299" y="3823124"/>
            <a:ext cx="3322078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4"/>
              </a:lnSpc>
              <a:spcBef>
                <a:spcPct val="0"/>
              </a:spcBef>
            </a:pPr>
            <a:r>
              <a:rPr lang="en-US" sz="4231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5400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ar-EG" sz="5400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لفظی معنی</a:t>
            </a:r>
            <a:endParaRPr lang="ar-EG" sz="4231" b="1" dirty="0">
              <a:solidFill>
                <a:srgbClr val="8A6355"/>
              </a:solidFill>
              <a:latin typeface="Canva Sans Bold"/>
              <a:ea typeface="Canva Sans Bold"/>
              <a:cs typeface="Canva Sans Bold"/>
              <a:sym typeface="Canva Sans Bold"/>
              <a:rtl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833706" y="5477921"/>
            <a:ext cx="4453294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4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  <a:r>
              <a:rPr lang="ar-EG" sz="5400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اصطلاحی معنی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28356" y="923925"/>
            <a:ext cx="5393978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ar-EG" sz="6600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علمِ بیان کے فائدے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0208" y="3047736"/>
            <a:ext cx="9126692" cy="49700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r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کلام کو خوبصورت بناتا ہے</a:t>
            </a:r>
            <a:r>
              <a:rPr lang="en-US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40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.1</a:t>
            </a:r>
            <a:endParaRPr lang="ar-EG" sz="4000" dirty="0">
              <a:solidFill>
                <a:srgbClr val="AE8E3F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lvl="1" algn="r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بات کو زیادہ مؤثر اور واضح کرتا ہے</a:t>
            </a:r>
            <a:r>
              <a:rPr lang="en-US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40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.2</a:t>
            </a:r>
            <a:r>
              <a:rPr lang="en-US" sz="40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lvl="1" algn="r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تخیل اور جذبات کو حسین انداز میں بیان</a:t>
            </a:r>
            <a:r>
              <a:rPr lang="en-US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</a:p>
          <a:p>
            <a:pPr lvl="1" algn="r">
              <a:lnSpc>
                <a:spcPct val="150000"/>
              </a:lnSpc>
              <a:spcBef>
                <a:spcPct val="0"/>
              </a:spcBef>
            </a:pP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کراتا ہے</a:t>
            </a:r>
          </a:p>
          <a:p>
            <a:pPr lvl="1" algn="r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زبان میں بلاغت اور کشش پیدا کرتا ہے</a:t>
            </a:r>
            <a:r>
              <a:rPr lang="en-US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40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.4</a:t>
            </a:r>
            <a:endParaRPr lang="ar-EG" sz="4000" dirty="0">
              <a:solidFill>
                <a:srgbClr val="AE8E3F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</p:txBody>
      </p:sp>
    </p:spTree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14314" y="681219"/>
            <a:ext cx="5210919" cy="939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sz="6000" b="1" dirty="0">
                <a:solidFill>
                  <a:srgbClr val="8A6355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علمِ بیان کے ارکان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129781" y="3165477"/>
            <a:ext cx="4027438" cy="485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en-US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۱</a:t>
            </a:r>
            <a:r>
              <a:rPr lang="ar-EG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تشبیہ</a:t>
            </a:r>
          </a:p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ar-EG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۲</a:t>
            </a:r>
            <a:r>
              <a:rPr lang="ar-EG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استعارہ</a:t>
            </a:r>
          </a:p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ar-EG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۳</a:t>
            </a:r>
            <a:r>
              <a:rPr lang="ar-EG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مجازِ مرسل</a:t>
            </a:r>
          </a:p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ar-EG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</a:rPr>
              <a:t>۴</a:t>
            </a:r>
            <a:r>
              <a:rPr lang="ar-EG" sz="5400" b="1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کنایہ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774164" y="1152660"/>
            <a:ext cx="2738672" cy="1111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ar-EG" sz="115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تشبیہ</a:t>
            </a:r>
            <a:endParaRPr lang="ar-EG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42900" y="3202306"/>
            <a:ext cx="9525000" cy="4808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لفظی معنی:</a:t>
            </a:r>
            <a:endParaRPr lang="en-US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en-US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     </a:t>
            </a:r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مشابہت</a:t>
            </a:r>
            <a:endParaRPr lang="ar-EG" sz="5400" dirty="0">
              <a:solidFill>
                <a:srgbClr val="AE8E3F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اصطلاحی معنی: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   </a:t>
            </a:r>
          </a:p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en-US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      </a:t>
            </a: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دو چیزوں میں کسی مشترک صفت کی بنیاد پر نسبت قائم کرنا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25099" y="516257"/>
            <a:ext cx="3283297" cy="92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ar-EG" sz="60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ارکانِ تشبیہ</a:t>
            </a:r>
            <a:r>
              <a:rPr lang="en-US" sz="60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9734" y="2516073"/>
            <a:ext cx="9787533" cy="7222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en-US" sz="48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۱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مشبّہ: </a:t>
            </a: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وہ چیز جسے تشبیہ دی جائے</a:t>
            </a:r>
          </a:p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۲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مشبّہ بہ: </a:t>
            </a: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وہ چیز جس سے تشبیہ دی جائے</a:t>
            </a:r>
          </a:p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۳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وجہِ شبہ: </a:t>
            </a: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دونوں میں مشترک صفت</a:t>
            </a:r>
          </a:p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۴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اداتِ تشبیہ: </a:t>
            </a: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مانند، کی طرح، جیسے، سا</a:t>
            </a:r>
          </a:p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مثال:</a:t>
            </a:r>
          </a:p>
          <a:p>
            <a:pPr algn="ctr" rtl="1">
              <a:lnSpc>
                <a:spcPct val="150000"/>
              </a:lnSpc>
              <a:spcBef>
                <a:spcPct val="0"/>
              </a:spcBef>
            </a:pPr>
            <a:r>
              <a:rPr lang="ar-EG" sz="48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علی شیر کی طرح بہادر ہے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90900" y="1289375"/>
            <a:ext cx="350520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ar-EG" sz="72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استعارہ</a:t>
            </a:r>
            <a:endParaRPr lang="ar-EG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0" y="3202307"/>
            <a:ext cx="10287000" cy="47844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لفظی معنی: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                             </a:t>
            </a:r>
          </a:p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en-US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عاریت لینا</a:t>
            </a:r>
            <a:r>
              <a:rPr lang="en-US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</a:t>
            </a:r>
            <a:endParaRPr lang="ar-EG" sz="5400" dirty="0">
              <a:solidFill>
                <a:srgbClr val="AE8E3F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اصطلاحی معنی: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                          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endParaRPr lang="en-US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en-US" sz="115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ar-AE" sz="4400" dirty="0">
                <a:solidFill>
                  <a:srgbClr val="AE8E3F"/>
                </a:solidFill>
              </a:rPr>
              <a:t> </a:t>
            </a:r>
            <a:r>
              <a:rPr lang="en-US" sz="4400" dirty="0">
                <a:solidFill>
                  <a:srgbClr val="AE8E3F"/>
                </a:solidFill>
              </a:rPr>
              <a:t>                        </a:t>
            </a:r>
            <a:r>
              <a:rPr lang="ar-AE" sz="4400" dirty="0">
                <a:solidFill>
                  <a:srgbClr val="AE8E3F"/>
                </a:solidFill>
              </a:rPr>
              <a:t>کسی چیز یا شخص کو کسی دوسری چیز یا شخص سے مشابہت دینے کا نام ہے۔ </a:t>
            </a:r>
            <a:endParaRPr lang="ar-EG" sz="11500" dirty="0">
              <a:solidFill>
                <a:srgbClr val="AE8E3F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09900" y="723900"/>
            <a:ext cx="4711334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ar-EG" sz="66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ارکانِ استعارہ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4350" y="2171700"/>
            <a:ext cx="9258300" cy="533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1">
              <a:lnSpc>
                <a:spcPct val="150000"/>
              </a:lnSpc>
              <a:spcBef>
                <a:spcPct val="0"/>
              </a:spcBef>
            </a:pPr>
            <a:r>
              <a:rPr lang="en-US" sz="48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۱</a:t>
            </a:r>
            <a:r>
              <a:rPr lang="ar-EG" sz="48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مستعار منہ: </a:t>
            </a: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وہ چیز جس سے معنی لیا گیا</a:t>
            </a:r>
          </a:p>
          <a:p>
            <a:pPr algn="just" rtl="1">
              <a:lnSpc>
                <a:spcPct val="150000"/>
              </a:lnSpc>
              <a:spcBef>
                <a:spcPct val="0"/>
              </a:spcBef>
            </a:pP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48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۲</a:t>
            </a:r>
            <a:r>
              <a:rPr lang="ar-EG" sz="48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مستعار لہ: </a:t>
            </a: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وہ چیز جس پر معنی لاگو ہوا</a:t>
            </a:r>
          </a:p>
          <a:p>
            <a:pPr algn="just" rtl="1">
              <a:lnSpc>
                <a:spcPct val="150000"/>
              </a:lnSpc>
              <a:spcBef>
                <a:spcPct val="0"/>
              </a:spcBef>
            </a:pP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48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۳</a:t>
            </a:r>
            <a:r>
              <a:rPr lang="ar-EG" sz="48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وجہِ شبہ: </a:t>
            </a: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مشترک صفت</a:t>
            </a:r>
          </a:p>
          <a:p>
            <a:pPr algn="just" rtl="1">
              <a:lnSpc>
                <a:spcPct val="150000"/>
              </a:lnSpc>
              <a:spcBef>
                <a:spcPct val="0"/>
              </a:spcBef>
            </a:pPr>
            <a:r>
              <a:rPr lang="ar-EG" sz="48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مثال:</a:t>
            </a:r>
          </a:p>
          <a:p>
            <a:pPr algn="just" rtl="1">
              <a:lnSpc>
                <a:spcPct val="150000"/>
              </a:lnSpc>
              <a:spcBef>
                <a:spcPct val="0"/>
              </a:spcBef>
            </a:pPr>
            <a:r>
              <a:rPr lang="ar-EG" sz="4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علی شیر ہے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80458" y="516257"/>
            <a:ext cx="3254425" cy="929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ar-EG" sz="60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مجازِ مرسل</a:t>
            </a:r>
            <a:endParaRPr lang="ar-EG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2249807"/>
            <a:ext cx="8229600" cy="5782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لفظی معنی: </a:t>
            </a:r>
            <a:endParaRPr lang="en-US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اصل معنی سے ہٹ جانا</a:t>
            </a:r>
          </a:p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اصطلاحی معنی: </a:t>
            </a:r>
            <a:endParaRPr lang="en-US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en-US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</a:t>
            </a:r>
            <a:r>
              <a:rPr lang="ar-EG" sz="5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لفظ کو اس کے اصل معنی کے بجائے کسی متعلقہ معنی میں استعمال کرنا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67274" y="535936"/>
            <a:ext cx="1752451" cy="99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ar-EG" sz="80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اقسام</a:t>
            </a:r>
            <a:r>
              <a:rPr lang="en-US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9778" y="2233269"/>
            <a:ext cx="10287000" cy="701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860"/>
              </a:lnSpc>
              <a:spcBef>
                <a:spcPct val="0"/>
              </a:spcBef>
            </a:pP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۱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سببیت: </a:t>
            </a: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سبب کی جگہ مسبب</a:t>
            </a:r>
          </a:p>
          <a:p>
            <a:pPr algn="ctr" rtl="1">
              <a:lnSpc>
                <a:spcPts val="6860"/>
              </a:lnSpc>
              <a:spcBef>
                <a:spcPct val="0"/>
              </a:spcBef>
            </a:pP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۲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مسببیت: </a:t>
            </a: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مسبب کی جگہ سبب</a:t>
            </a:r>
          </a:p>
          <a:p>
            <a:pPr algn="ctr" rtl="1">
              <a:lnSpc>
                <a:spcPts val="68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۳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جزئیت: </a:t>
            </a: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کل کی جگہ جزو</a:t>
            </a:r>
          </a:p>
          <a:p>
            <a:pPr algn="ctr" rtl="1">
              <a:lnSpc>
                <a:spcPts val="68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۴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کلیت: </a:t>
            </a: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جزو کی جگہ کل</a:t>
            </a:r>
          </a:p>
          <a:p>
            <a:pPr algn="ctr" rtl="1">
              <a:lnSpc>
                <a:spcPts val="68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مثال:</a:t>
            </a:r>
          </a:p>
          <a:p>
            <a:pPr algn="ctr" rtl="1">
              <a:lnSpc>
                <a:spcPts val="6860"/>
              </a:lnSpc>
              <a:spcBef>
                <a:spcPct val="0"/>
              </a:spcBef>
            </a:pP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میں نے قافلہ دیکھا</a:t>
            </a:r>
          </a:p>
          <a:p>
            <a:pPr algn="ctr" rtl="1">
              <a:lnSpc>
                <a:spcPts val="6860"/>
              </a:lnSpc>
              <a:spcBef>
                <a:spcPct val="0"/>
              </a:spcBef>
            </a:pP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(حالانکہ دیکھا اونٹ/لوگ — قافلہ بطورِ کل استعمال ہوا)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05300" y="1104900"/>
            <a:ext cx="2225650" cy="974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ar-EG" sz="7200" b="1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کنایہ</a:t>
            </a:r>
            <a:endParaRPr lang="ar-EG" sz="5400" b="1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66700" y="2619023"/>
            <a:ext cx="9525000" cy="4808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لفظی معنی: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</a:p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en-US" sz="5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    </a:t>
            </a:r>
            <a:r>
              <a:rPr lang="ar-EG" sz="5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اشارہ کرنا</a:t>
            </a:r>
          </a:p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ar-EG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اصطلاحی معنی:</a:t>
            </a:r>
            <a:endParaRPr lang="en-US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just" rtl="1">
              <a:lnSpc>
                <a:spcPts val="7560"/>
              </a:lnSpc>
              <a:spcBef>
                <a:spcPct val="0"/>
              </a:spcBef>
            </a:pPr>
            <a:r>
              <a:rPr lang="en-US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   </a:t>
            </a:r>
            <a:r>
              <a:rPr lang="ar-EG" sz="54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بات براہِ راست نہ کہیں بلکہ اشارے سے سمجھا دی جائے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67274" y="760175"/>
            <a:ext cx="1752451" cy="99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ar-EG" sz="80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اقسام</a:t>
            </a:r>
            <a:r>
              <a:rPr lang="en-US" sz="54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756025"/>
            <a:ext cx="9907178" cy="7904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۱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صفت: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</a:p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   </a:t>
            </a: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صفت بتا کر مطلب سمجھانا</a:t>
            </a:r>
          </a:p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۲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موصوف:</a:t>
            </a:r>
            <a:endParaRPr lang="en-US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صفت کے ذریعے شخص/چیز کی پہچان</a:t>
            </a:r>
          </a:p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</a:rPr>
              <a:t>۳</a:t>
            </a: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۔ نسبت: </a:t>
            </a:r>
            <a:endParaRPr lang="en-US" sz="5400" dirty="0">
              <a:solidFill>
                <a:srgbClr val="8A6355"/>
              </a:solidFill>
              <a:latin typeface="Canva Sans"/>
              <a:ea typeface="Canva Sans"/>
              <a:cs typeface="Canva Sans"/>
              <a:sym typeface="Canva Sans"/>
              <a:rtl/>
            </a:endParaRPr>
          </a:p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en-US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 </a:t>
            </a: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کسی تعلق کی طرف اشارہ</a:t>
            </a:r>
          </a:p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ar-EG" sz="5400" dirty="0">
                <a:solidFill>
                  <a:srgbClr val="8A6355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مثال:</a:t>
            </a:r>
          </a:p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</a:t>
            </a:r>
            <a:r>
              <a:rPr lang="en-US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      </a:t>
            </a: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اس کے ہاتھ کھلے ہیں</a:t>
            </a:r>
          </a:p>
          <a:p>
            <a:pPr algn="r" rtl="1">
              <a:lnSpc>
                <a:spcPts val="6860"/>
              </a:lnSpc>
              <a:spcBef>
                <a:spcPct val="0"/>
              </a:spcBef>
            </a:pPr>
            <a:r>
              <a:rPr lang="ar-EG" sz="4900" dirty="0">
                <a:solidFill>
                  <a:srgbClr val="AE8E3F"/>
                </a:solidFill>
                <a:latin typeface="Canva Sans"/>
                <a:ea typeface="Canva Sans"/>
                <a:cs typeface="Canva Sans"/>
                <a:sym typeface="Canva Sans"/>
                <a:rtl/>
              </a:rPr>
              <a:t> (یعنی وہ سخی ہے)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1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62200" y="4448598"/>
            <a:ext cx="5562599" cy="1389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7560"/>
              </a:lnSpc>
              <a:spcBef>
                <a:spcPct val="0"/>
              </a:spcBef>
            </a:pPr>
            <a:r>
              <a:rPr lang="ar-EG" sz="19900" dirty="0">
                <a:solidFill>
                  <a:srgbClr val="8A6355"/>
                </a:solidFill>
                <a:effectLst>
                  <a:glow rad="63500">
                    <a:schemeClr val="accent1">
                      <a:alpha val="40000"/>
                    </a:schemeClr>
                  </a:glow>
                  <a:outerShdw blurRad="203200" dist="203200" dir="5400000" algn="ctr" rotWithShape="0">
                    <a:srgbClr val="000000">
                      <a:alpha val="91000"/>
                    </a:srgbClr>
                  </a:outerShdw>
                </a:effectLst>
                <a:latin typeface="Canva Sans"/>
                <a:ea typeface="Canva Sans"/>
                <a:cs typeface="Canva Sans"/>
                <a:sym typeface="Canva Sans"/>
                <a:rtl/>
              </a:rPr>
              <a:t>شکریہ</a:t>
            </a:r>
            <a:endParaRPr lang="ar-EG" sz="5400" dirty="0">
              <a:solidFill>
                <a:srgbClr val="8A6355"/>
              </a:solidFill>
              <a:effectLst>
                <a:glow rad="63500">
                  <a:schemeClr val="accent1">
                    <a:alpha val="40000"/>
                  </a:schemeClr>
                </a:glow>
                <a:outerShdw blurRad="203200" dist="203200" dir="5400000" algn="ctr" rotWithShape="0">
                  <a:srgbClr val="000000">
                    <a:alpha val="91000"/>
                  </a:srgbClr>
                </a:outerShdw>
              </a:effectLst>
              <a:latin typeface="Canva Sans"/>
              <a:ea typeface="Canva Sans"/>
              <a:cs typeface="Canva Sans"/>
              <a:sym typeface="Canva Sans"/>
              <a:rtl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428</Words>
  <Application>Microsoft Office PowerPoint</Application>
  <PresentationFormat>Custom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Calibri</vt:lpstr>
      <vt:lpstr>Canva Sans Bold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منشور العيد باللون الأخضر و الزهري</dc:title>
  <cp:lastModifiedBy>Jahanzaib Haider</cp:lastModifiedBy>
  <cp:revision>3</cp:revision>
  <dcterms:created xsi:type="dcterms:W3CDTF">2006-08-16T00:00:00Z</dcterms:created>
  <dcterms:modified xsi:type="dcterms:W3CDTF">2025-11-04T12:40:55Z</dcterms:modified>
  <dc:identifier>DAG3ozHiH1A</dc:identifier>
</cp:coreProperties>
</file>